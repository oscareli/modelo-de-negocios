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media/image14.png" ContentType="image/png"/>
  <Override PartName="/ppt/media/image13.png" ContentType="image/png"/>
  <Override PartName="/ppt/media/image12.png" ContentType="image/png"/>
  <Override PartName="/ppt/media/image11.png" ContentType="image/png"/>
  <Override PartName="/ppt/media/image10.png" ContentType="image/png"/>
  <Override PartName="/ppt/media/image9.png" ContentType="image/png"/>
  <Override PartName="/ppt/media/image8.png" ContentType="image/png"/>
  <Override PartName="/ppt/media/image7.png" ContentType="image/png"/>
  <Override PartName="/ppt/media/image2.png" ContentType="image/png"/>
  <Override PartName="/ppt/media/image15.png" ContentType="image/png"/>
  <Override PartName="/ppt/media/image1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3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2.xml" ContentType="application/vnd.openxmlformats-officedocument.presentationml.slide+xml"/>
  <Override PartName="/ppt/slides/slide45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22.xml" ContentType="application/vnd.openxmlformats-officedocument.presentationml.slide+xml"/>
  <Override PartName="/ppt/slides/slide48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3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_rels/slide48.xml.rels" ContentType="application/vnd.openxmlformats-package.relationships+xml"/>
  <Override PartName="/ppt/slides/_rels/slide44.xml.rels" ContentType="application/vnd.openxmlformats-package.relationships+xml"/>
  <Override PartName="/ppt/slides/_rels/slide43.xml.rels" ContentType="application/vnd.openxmlformats-package.relationships+xml"/>
  <Override PartName="/ppt/slides/_rels/slide42.xml.rels" ContentType="application/vnd.openxmlformats-package.relationships+xml"/>
  <Override PartName="/ppt/slides/_rels/slide41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3.xml.rels" ContentType="application/vnd.openxmlformats-package.relationships+xml"/>
  <Override PartName="/ppt/slides/_rels/slide3.xml.rels" ContentType="application/vnd.openxmlformats-package.relationships+xml"/>
  <Override PartName="/ppt/slides/_rels/slide45.xml.rels" ContentType="application/vnd.openxmlformats-package.relationships+xml"/>
  <Override PartName="/ppt/slides/_rels/slide4.xml.rels" ContentType="application/vnd.openxmlformats-package.relationships+xml"/>
  <Override PartName="/ppt/slides/_rels/slide35.xml.rels" ContentType="application/vnd.openxmlformats-package.relationships+xml"/>
  <Override PartName="/ppt/slides/_rels/slide5.xml.rels" ContentType="application/vnd.openxmlformats-package.relationships+xml"/>
  <Override PartName="/ppt/slides/_rels/slide36.xml.rels" ContentType="application/vnd.openxmlformats-package.relationships+xml"/>
  <Override PartName="/ppt/slides/_rels/slide6.xml.rels" ContentType="application/vnd.openxmlformats-package.relationships+xml"/>
  <Override PartName="/ppt/slides/_rels/slide17.xml.rels" ContentType="application/vnd.openxmlformats-package.relationships+xml"/>
  <Override PartName="/ppt/slides/_rels/slide46.xml.rels" ContentType="application/vnd.openxmlformats-package.relationships+xml"/>
  <Override PartName="/ppt/slides/_rels/slide18.xml.rels" ContentType="application/vnd.openxmlformats-package.relationships+xml"/>
  <Override PartName="/ppt/slides/_rels/slide47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0.xml.rels" ContentType="application/vnd.openxmlformats-package.relationships+xml"/>
  <Override PartName="/ppt/slides/_rels/slide25.xml.rels" ContentType="application/vnd.openxmlformats-package.relationships+xml"/>
  <Override PartName="/ppt/slides/_rels/slide31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32.xml.rels" ContentType="application/vnd.openxmlformats-package.relationships+xml"/>
  <Override PartName="/ppt/slides/_rels/slide28.xml.rels" ContentType="application/vnd.openxmlformats-package.relationships+xml"/>
  <Override PartName="/ppt/slides/_rels/slide10.xml.rels" ContentType="application/vnd.openxmlformats-package.relationships+xml"/>
  <Override PartName="/ppt/slides/_rels/slide29.xml.rels" ContentType="application/vnd.openxmlformats-package.relationships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 rot="10800000">
            <a:off x="4917960" y="3322080"/>
            <a:ext cx="691560" cy="388080"/>
          </a:xfrm>
          <a:prstGeom prst="triangle">
            <a:avLst>
              <a:gd name="adj" fmla="val 50000"/>
            </a:avLst>
          </a:prstGeom>
          <a:solidFill>
            <a:srgbClr val="e91d63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9143640" cy="3123720"/>
          </a:xfrm>
          <a:prstGeom prst="rect">
            <a:avLst/>
          </a:prstGeom>
          <a:solidFill>
            <a:srgbClr val="e91d63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411120" y="644400"/>
            <a:ext cx="8282160" cy="210852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/>
          <a:p>
            <a:pPr algn="r">
              <a:lnSpc>
                <a:spcPct val="100000"/>
              </a:lnSpc>
            </a:pPr>
            <a:fld id="{76A09A47-0DE5-425D-9F29-F49B576B2E81}" type="slidenum">
              <a:rPr b="0" lang="en-US" sz="1000" spc="-1" strike="noStrike">
                <a:solidFill>
                  <a:srgbClr val="424242"/>
                </a:solidFill>
                <a:latin typeface="Source Code Pro"/>
                <a:ea typeface="Source Code Pro"/>
              </a:rPr>
              <a:t>&lt;número&gt;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1567440"/>
            <a:ext cx="9143640" cy="2008440"/>
          </a:xfrm>
          <a:prstGeom prst="rect">
            <a:avLst/>
          </a:prstGeom>
          <a:solidFill>
            <a:srgbClr val="e91d63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430920" y="1889640"/>
            <a:ext cx="8282160" cy="151632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/>
          <a:p>
            <a:pPr algn="r">
              <a:lnSpc>
                <a:spcPct val="100000"/>
              </a:lnSpc>
            </a:pPr>
            <a:fld id="{772D1EB7-7921-42CA-932B-77F582B7E845}" type="slidenum">
              <a:rPr b="0" lang="en-US" sz="1000" spc="-1" strike="noStrike">
                <a:solidFill>
                  <a:srgbClr val="424242"/>
                </a:solidFill>
                <a:latin typeface="Source Code Pro"/>
                <a:ea typeface="Source Code Pro"/>
              </a:rPr>
              <a:t>&lt;número&gt;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/>
          <a:p>
            <a:pPr algn="r">
              <a:lnSpc>
                <a:spcPct val="100000"/>
              </a:lnSpc>
            </a:pPr>
            <a:fld id="{61B99B44-41EB-4B46-AB51-8CCD50DA086B}" type="slidenum">
              <a:rPr b="0" lang="en-US" sz="1000" spc="-1" strike="noStrike">
                <a:solidFill>
                  <a:srgbClr val="424242"/>
                </a:solidFill>
                <a:latin typeface="Source Code Pro"/>
                <a:ea typeface="Source Code Pro"/>
              </a:rPr>
              <a:t>&lt;número&gt;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2.º nível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3.º nível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4.º nível da estrutura de tópicos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5.º nível da estrutura de tópicos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6.º nível da estrutura de tópicos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7.º nível da estrutura de tópicos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5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5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5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Shape 1"/>
          <p:cNvSpPr txBox="1"/>
          <p:nvPr/>
        </p:nvSpPr>
        <p:spPr>
          <a:xfrm>
            <a:off x="411120" y="64476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Modelagem de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Shape 2"/>
          <p:cNvSpPr txBox="1"/>
          <p:nvPr/>
        </p:nvSpPr>
        <p:spPr>
          <a:xfrm>
            <a:off x="339120" y="3419640"/>
            <a:ext cx="758088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marL="457200" indent="-456840" algn="ctr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3600" spc="-1" strike="noStrike">
                <a:solidFill>
                  <a:srgbClr val="424242"/>
                </a:solidFill>
                <a:latin typeface="Oswald"/>
                <a:ea typeface="Oswald"/>
              </a:rPr>
              <a:t>Negócios</a:t>
            </a:r>
            <a:endParaRPr b="0" lang="en-US" sz="3600" spc="-1" strike="noStrike"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Agenda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Shape 2"/>
          <p:cNvSpPr txBox="1"/>
          <p:nvPr/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Visão</a:t>
            </a:r>
            <a:endParaRPr b="0" lang="en-US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Analise de Mercado</a:t>
            </a:r>
            <a:endParaRPr b="0" lang="en-US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Canvas</a:t>
            </a:r>
            <a:endParaRPr b="0" lang="en-US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Processos</a:t>
            </a:r>
            <a:endParaRPr b="0" lang="en-US" sz="32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Estrutura de Custos e Receitas</a:t>
            </a:r>
            <a:endParaRPr b="0" lang="en-US" sz="3200" spc="-1" strike="noStrike"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1030680" y="360000"/>
            <a:ext cx="6745320" cy="4203720"/>
          </a:xfrm>
          <a:prstGeom prst="rect">
            <a:avLst/>
          </a:prstGeom>
          <a:ln>
            <a:noFill/>
          </a:ln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Visão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Visão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2800" spc="-1" strike="noStrike">
                <a:solidFill>
                  <a:srgbClr val="424242"/>
                </a:solidFill>
                <a:latin typeface="Oswald"/>
                <a:ea typeface="Oswald"/>
              </a:rPr>
              <a:t>Uma visão é uma clara imagem que gera uma atração emocional entre pessoas e produtos!</a:t>
            </a:r>
            <a:endParaRPr b="0" lang="en-US" sz="2800" spc="-1" strike="noStrike"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1030680" y="360000"/>
            <a:ext cx="6745320" cy="4203720"/>
          </a:xfrm>
          <a:prstGeom prst="rect">
            <a:avLst/>
          </a:prstGeom>
          <a:ln>
            <a:noFill/>
          </a:ln>
        </p:spPr>
      </p:pic>
      <p:pic>
        <p:nvPicPr>
          <p:cNvPr id="129" name="" descr=""/>
          <p:cNvPicPr/>
          <p:nvPr/>
        </p:nvPicPr>
        <p:blipFill>
          <a:blip r:embed="rId2"/>
          <a:stretch/>
        </p:blipFill>
        <p:spPr>
          <a:xfrm>
            <a:off x="0" y="-5040"/>
            <a:ext cx="9144000" cy="5143320"/>
          </a:xfrm>
          <a:prstGeom prst="rect">
            <a:avLst/>
          </a:prstGeom>
          <a:ln>
            <a:noFill/>
          </a:ln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Analise de Mercado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marL="457200" indent="-45684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800" spc="-1" strike="noStrike">
                <a:solidFill>
                  <a:srgbClr val="424242"/>
                </a:solidFill>
                <a:latin typeface="Oswald"/>
                <a:ea typeface="Oswald"/>
              </a:rPr>
              <a:t>Alguem já faz?</a:t>
            </a:r>
            <a:endParaRPr b="0" lang="en-US" sz="2800" spc="-1" strike="noStrike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800" spc="-1" strike="noStrike">
                <a:solidFill>
                  <a:srgbClr val="424242"/>
                </a:solidFill>
                <a:latin typeface="Oswald"/>
                <a:ea typeface="Oswald"/>
              </a:rPr>
              <a:t>Existe algo em outro mercado?</a:t>
            </a:r>
            <a:endParaRPr b="0" lang="en-US" sz="2800" spc="-1" strike="noStrike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800" spc="-1" strike="noStrike">
                <a:solidFill>
                  <a:srgbClr val="424242"/>
                </a:solidFill>
                <a:latin typeface="Oswald"/>
                <a:ea typeface="Oswald"/>
              </a:rPr>
              <a:t>Que outros fazem no seu mercado?</a:t>
            </a:r>
            <a:endParaRPr b="0" lang="en-US" sz="2800" spc="-1" strike="noStrike"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 txBox="1"/>
          <p:nvPr/>
        </p:nvSpPr>
        <p:spPr>
          <a:xfrm>
            <a:off x="343080" y="105840"/>
            <a:ext cx="8282160" cy="1516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3600" spc="-1" strike="noStrike">
                <a:solidFill>
                  <a:srgbClr val="e91d63"/>
                </a:solidFill>
                <a:latin typeface="Oswald"/>
                <a:ea typeface="Oswald"/>
              </a:rPr>
              <a:t>5w2h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1284120" y="1658520"/>
            <a:ext cx="6327720" cy="8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O que é?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Quando?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Onde?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Por que?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Para que?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Como?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Quanto?</a:t>
            </a:r>
            <a:endParaRPr b="0" lang="en-US" sz="1400" spc="-1" strike="noStrike"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Planejamento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3600" spc="-1" strike="noStrike">
                <a:solidFill>
                  <a:srgbClr val="424242"/>
                </a:solidFill>
                <a:latin typeface="Oswald"/>
                <a:ea typeface="Oswald"/>
              </a:rPr>
              <a:t>CANVAS !!!</a:t>
            </a:r>
            <a:endParaRPr b="0" lang="en-US" sz="3600" spc="-1" strike="noStrike"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720000" y="151200"/>
            <a:ext cx="7488000" cy="4744800"/>
          </a:xfrm>
          <a:prstGeom prst="rect">
            <a:avLst/>
          </a:prstGeom>
          <a:ln>
            <a:noFill/>
          </a:ln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Proposta de Valor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37800" y="72000"/>
            <a:ext cx="9034200" cy="4680000"/>
          </a:xfrm>
          <a:prstGeom prst="rect">
            <a:avLst/>
          </a:prstGeom>
          <a:ln>
            <a:noFill/>
          </a:ln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Proposta de Valor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marL="457200" indent="-45684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600" spc="-1" strike="noStrike">
                <a:solidFill>
                  <a:srgbClr val="424242"/>
                </a:solidFill>
                <a:latin typeface="Oswald"/>
                <a:ea typeface="Oswald"/>
              </a:rPr>
              <a:t>Que valor entrega?</a:t>
            </a:r>
            <a:endParaRPr b="0" lang="en-US" sz="2600" spc="-1" strike="noStrike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600" spc="-1" strike="noStrike">
                <a:solidFill>
                  <a:srgbClr val="424242"/>
                </a:solidFill>
                <a:latin typeface="Oswald"/>
                <a:ea typeface="Oswald"/>
              </a:rPr>
              <a:t>Que pacote de serviço e necessidades resolve?</a:t>
            </a:r>
            <a:endParaRPr b="0" lang="en-US" sz="2600" spc="-1" strike="noStrike"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343080" y="105840"/>
            <a:ext cx="8282160" cy="1516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3600" spc="-1" strike="noStrike">
                <a:solidFill>
                  <a:srgbClr val="e91d63"/>
                </a:solidFill>
                <a:latin typeface="Oswald"/>
                <a:ea typeface="Oswald"/>
              </a:rPr>
              <a:t>Tipos de Proposta de Valores: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CustomShape 2"/>
          <p:cNvSpPr/>
          <p:nvPr/>
        </p:nvSpPr>
        <p:spPr>
          <a:xfrm>
            <a:off x="1328760" y="1496880"/>
            <a:ext cx="6303240" cy="73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Novidade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Desempenho e Performance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Personalização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Fazer o que se deve ser feito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Design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Status de marca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Preço e/ou redução de custo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Acessibilidade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Conveniência</a:t>
            </a:r>
            <a:endParaRPr b="0" lang="en-US" sz="1400" spc="-1" strike="noStrike"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234720" y="648000"/>
            <a:ext cx="869328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Segmento de Clientes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961560" y="288000"/>
            <a:ext cx="7278120" cy="4104000"/>
          </a:xfrm>
          <a:prstGeom prst="rect">
            <a:avLst/>
          </a:prstGeom>
          <a:ln>
            <a:noFill/>
          </a:ln>
        </p:spPr>
      </p:pic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Segmento de Clientes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marL="457200" indent="-45684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800" spc="-1" strike="noStrike">
                <a:solidFill>
                  <a:srgbClr val="424242"/>
                </a:solidFill>
                <a:latin typeface="Oswald"/>
                <a:ea typeface="Oswald"/>
              </a:rPr>
              <a:t>Quem são nosso público ?</a:t>
            </a:r>
            <a:endParaRPr b="0" lang="en-US" sz="2800" spc="-1" strike="noStrike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800" spc="-1" strike="noStrike">
                <a:solidFill>
                  <a:srgbClr val="424242"/>
                </a:solidFill>
                <a:latin typeface="Oswald"/>
                <a:ea typeface="Oswald"/>
              </a:rPr>
              <a:t>Do que eles são feitos ? (Dores, valores...)</a:t>
            </a:r>
            <a:endParaRPr b="0" lang="en-US" sz="2800" spc="-1" strike="noStrike">
              <a:latin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343080" y="105840"/>
            <a:ext cx="8282160" cy="1516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3600" spc="-1" strike="noStrike">
                <a:solidFill>
                  <a:srgbClr val="e91d63"/>
                </a:solidFill>
                <a:latin typeface="Oswald"/>
                <a:ea typeface="Oswald"/>
              </a:rPr>
              <a:t>Tipos de Segmento de Clientes: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CustomShape 2"/>
          <p:cNvSpPr/>
          <p:nvPr/>
        </p:nvSpPr>
        <p:spPr>
          <a:xfrm>
            <a:off x="1332720" y="1983600"/>
            <a:ext cx="6303240" cy="73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Mercado de Massa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Nicho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Segmentada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Diversificação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Multilaterais</a:t>
            </a:r>
            <a:endParaRPr b="0" lang="en-US" sz="1400" spc="-1" strike="noStrike"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Relacionamento</a:t>
            </a:r>
            <a:br/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com clientes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860760" y="381960"/>
            <a:ext cx="7563240" cy="4298040"/>
          </a:xfrm>
          <a:prstGeom prst="rect">
            <a:avLst/>
          </a:prstGeom>
          <a:ln>
            <a:noFill/>
          </a:ln>
        </p:spPr>
      </p:pic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Relacionamento</a:t>
            </a:r>
            <a:br/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com clientes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marL="457200" indent="-45684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3600" spc="-1" strike="noStrike">
                <a:solidFill>
                  <a:srgbClr val="424242"/>
                </a:solidFill>
                <a:latin typeface="Oswald"/>
                <a:ea typeface="Oswald"/>
              </a:rPr>
              <a:t>Como nos relacionamos com o cliente?</a:t>
            </a:r>
            <a:endParaRPr b="0" lang="en-US" sz="3600" spc="-1" strike="noStrike">
              <a:latin typeface="Arial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343080" y="105840"/>
            <a:ext cx="8282160" cy="1516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3600" spc="-1" strike="noStrike">
                <a:solidFill>
                  <a:srgbClr val="e91d63"/>
                </a:solidFill>
                <a:latin typeface="Oswald"/>
                <a:ea typeface="Oswald"/>
              </a:rPr>
              <a:t>Tipos de Relacionamento com Clientes: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CustomShape 2"/>
          <p:cNvSpPr/>
          <p:nvPr/>
        </p:nvSpPr>
        <p:spPr>
          <a:xfrm>
            <a:off x="1332720" y="1983600"/>
            <a:ext cx="6303240" cy="73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Assistência Pessoal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Auto Atendimento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Serviços Automaticos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Comunidades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Co-criação</a:t>
            </a:r>
            <a:endParaRPr b="0" lang="en-US" sz="1400" spc="-1" strike="noStrike"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Canais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565920" y="648000"/>
            <a:ext cx="7790760" cy="3762720"/>
          </a:xfrm>
          <a:prstGeom prst="rect">
            <a:avLst/>
          </a:prstGeom>
          <a:ln>
            <a:noFill/>
          </a:ln>
        </p:spPr>
      </p:pic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Canais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marL="457200" indent="-45684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3600" spc="-1" strike="noStrike">
                <a:solidFill>
                  <a:srgbClr val="424242"/>
                </a:solidFill>
                <a:latin typeface="Oswald"/>
                <a:ea typeface="Oswald"/>
              </a:rPr>
              <a:t>Como vamos entregar a proposta de valor?</a:t>
            </a:r>
            <a:endParaRPr b="0" lang="en-US" sz="3600" spc="-1" strike="noStrike">
              <a:latin typeface="Arial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Shape 1"/>
          <p:cNvSpPr txBox="1"/>
          <p:nvPr/>
        </p:nvSpPr>
        <p:spPr>
          <a:xfrm>
            <a:off x="343080" y="105840"/>
            <a:ext cx="8282160" cy="1516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3600" spc="-1" strike="noStrike">
                <a:solidFill>
                  <a:srgbClr val="e91d63"/>
                </a:solidFill>
                <a:latin typeface="Oswald"/>
                <a:ea typeface="Oswald"/>
              </a:rPr>
              <a:t>Fases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CustomShape 2"/>
          <p:cNvSpPr/>
          <p:nvPr/>
        </p:nvSpPr>
        <p:spPr>
          <a:xfrm>
            <a:off x="984960" y="2287080"/>
            <a:ext cx="1477080" cy="853200"/>
          </a:xfrm>
          <a:prstGeom prst="homePlate">
            <a:avLst>
              <a:gd name="adj" fmla="val 50000"/>
            </a:avLst>
          </a:prstGeom>
          <a:solidFill>
            <a:srgbClr val="999999"/>
          </a:solidFill>
          <a:ln w="9360">
            <a:solidFill>
              <a:srgbClr val="4242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3"/>
          <p:cNvSpPr/>
          <p:nvPr/>
        </p:nvSpPr>
        <p:spPr>
          <a:xfrm>
            <a:off x="2177640" y="2287080"/>
            <a:ext cx="1575720" cy="8532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 w="9360">
            <a:solidFill>
              <a:srgbClr val="4242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CustomShape 4"/>
          <p:cNvSpPr/>
          <p:nvPr/>
        </p:nvSpPr>
        <p:spPr>
          <a:xfrm>
            <a:off x="3400920" y="2287080"/>
            <a:ext cx="1575720" cy="8532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 w="9360">
            <a:solidFill>
              <a:srgbClr val="4242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CustomShape 5"/>
          <p:cNvSpPr/>
          <p:nvPr/>
        </p:nvSpPr>
        <p:spPr>
          <a:xfrm>
            <a:off x="4626000" y="2287080"/>
            <a:ext cx="1575720" cy="8532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 w="9360">
            <a:solidFill>
              <a:srgbClr val="4242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CustomShape 6"/>
          <p:cNvSpPr/>
          <p:nvPr/>
        </p:nvSpPr>
        <p:spPr>
          <a:xfrm>
            <a:off x="5915520" y="2287080"/>
            <a:ext cx="1575720" cy="853200"/>
          </a:xfrm>
          <a:prstGeom prst="chevron">
            <a:avLst>
              <a:gd name="adj" fmla="val 50000"/>
            </a:avLst>
          </a:prstGeom>
          <a:solidFill>
            <a:srgbClr val="999999"/>
          </a:solidFill>
          <a:ln w="9360">
            <a:solidFill>
              <a:srgbClr val="4242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CustomShape 7"/>
          <p:cNvSpPr/>
          <p:nvPr/>
        </p:nvSpPr>
        <p:spPr>
          <a:xfrm>
            <a:off x="984960" y="2517120"/>
            <a:ext cx="1378440" cy="39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Conhecimento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6" name="CustomShape 8"/>
          <p:cNvSpPr/>
          <p:nvPr/>
        </p:nvSpPr>
        <p:spPr>
          <a:xfrm>
            <a:off x="2626200" y="2517120"/>
            <a:ext cx="1006560" cy="39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Avaliação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7" name="CustomShape 9"/>
          <p:cNvSpPr/>
          <p:nvPr/>
        </p:nvSpPr>
        <p:spPr>
          <a:xfrm>
            <a:off x="3895920" y="2517120"/>
            <a:ext cx="1006560" cy="39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Compra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8" name="CustomShape 10"/>
          <p:cNvSpPr/>
          <p:nvPr/>
        </p:nvSpPr>
        <p:spPr>
          <a:xfrm>
            <a:off x="5044680" y="2517120"/>
            <a:ext cx="1006560" cy="39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Entrega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9" name="CustomShape 11"/>
          <p:cNvSpPr/>
          <p:nvPr/>
        </p:nvSpPr>
        <p:spPr>
          <a:xfrm>
            <a:off x="6281280" y="2517120"/>
            <a:ext cx="1105200" cy="39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Pós-Venda</a:t>
            </a:r>
            <a:endParaRPr b="0" lang="en-US" sz="1400" spc="-1" strike="noStrike">
              <a:latin typeface="Arial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Atividades Chaves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648000" y="792000"/>
            <a:ext cx="7173720" cy="3384000"/>
          </a:xfrm>
          <a:prstGeom prst="rect">
            <a:avLst/>
          </a:prstGeom>
          <a:ln>
            <a:noFill/>
          </a:ln>
        </p:spPr>
      </p:pic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Atividades Chaves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000" spc="-1" strike="noStrike">
                <a:solidFill>
                  <a:srgbClr val="424242"/>
                </a:solidFill>
                <a:latin typeface="Oswald"/>
                <a:ea typeface="Oswald"/>
              </a:rPr>
              <a:t>Quais são as atividades que o modelo deve executar muito bem para entregar a proposta de valor?</a:t>
            </a:r>
            <a:endParaRPr b="0" lang="en-US" sz="2000" spc="-1" strike="noStrike">
              <a:latin typeface="Arial"/>
            </a:endParaRPr>
          </a:p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000" spc="-1" strike="noStrike">
                <a:solidFill>
                  <a:srgbClr val="424242"/>
                </a:solidFill>
                <a:latin typeface="Oswald"/>
                <a:ea typeface="Oswald"/>
              </a:rPr>
              <a:t>Quais são as atividades que devem ser bem executadas pelos CANAIS, que atuam nos RELACIONAMENTOS e que irão gerar receita?</a:t>
            </a:r>
            <a:endParaRPr b="0" lang="en-US" sz="2000" spc="-1" strike="noStrike"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Shape 1"/>
          <p:cNvSpPr txBox="1"/>
          <p:nvPr/>
        </p:nvSpPr>
        <p:spPr>
          <a:xfrm>
            <a:off x="343080" y="105840"/>
            <a:ext cx="8282160" cy="1516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3600" spc="-1" strike="noStrike">
                <a:solidFill>
                  <a:srgbClr val="e91d63"/>
                </a:solidFill>
                <a:latin typeface="Oswald"/>
                <a:ea typeface="Oswald"/>
              </a:rPr>
              <a:t>Processos de negócios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1332720" y="1983600"/>
            <a:ext cx="6303240" cy="73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Modelo Cynefin (Scrum, PMP, Waterfall...)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Fluxo das Atividades (RoadMap)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Estrutura de Relacionamento (Fases dos Canais)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Estrutura do Jurídico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Estrutura da Contabilidade</a:t>
            </a:r>
            <a:endParaRPr b="0" lang="en-US" sz="1400" spc="-1" strike="noStrike">
              <a:latin typeface="Arial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60;p28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>
            <a:noFill/>
          </a:ln>
        </p:spPr>
      </p:pic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Recursos Chave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" descr=""/>
          <p:cNvPicPr/>
          <p:nvPr/>
        </p:nvPicPr>
        <p:blipFill>
          <a:blip r:embed="rId1"/>
          <a:stretch/>
        </p:blipFill>
        <p:spPr>
          <a:xfrm>
            <a:off x="1058040" y="504000"/>
            <a:ext cx="6622920" cy="3888000"/>
          </a:xfrm>
          <a:prstGeom prst="rect">
            <a:avLst/>
          </a:prstGeom>
          <a:ln>
            <a:noFill/>
          </a:ln>
        </p:spPr>
      </p:pic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Recursos Chave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400" spc="-1" strike="noStrike">
                <a:solidFill>
                  <a:srgbClr val="424242"/>
                </a:solidFill>
                <a:latin typeface="Oswald"/>
                <a:ea typeface="Oswald"/>
              </a:rPr>
              <a:t>Quais recursos é necessário para entregar pelos CANAIS e para executar a estrategia de RELACIONAMENTO COM CLIENTES?</a:t>
            </a:r>
            <a:endParaRPr b="0" lang="en-US" sz="2400" spc="-1" strike="noStrike">
              <a:latin typeface="Arial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Shape 1"/>
          <p:cNvSpPr txBox="1"/>
          <p:nvPr/>
        </p:nvSpPr>
        <p:spPr>
          <a:xfrm>
            <a:off x="343080" y="105840"/>
            <a:ext cx="8282160" cy="1516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3600" spc="-1" strike="noStrike">
                <a:solidFill>
                  <a:srgbClr val="e91d63"/>
                </a:solidFill>
                <a:latin typeface="Oswald"/>
                <a:ea typeface="Oswald"/>
              </a:rPr>
              <a:t>Tipos de Recursos: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CustomShape 2"/>
          <p:cNvSpPr/>
          <p:nvPr/>
        </p:nvSpPr>
        <p:spPr>
          <a:xfrm>
            <a:off x="1332720" y="1983600"/>
            <a:ext cx="6303240" cy="73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Físico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Intelectual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Humanos (Melhor seria Pessoas e não recursos)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Financeiros</a:t>
            </a:r>
            <a:endParaRPr b="0" lang="en-US" sz="1400" spc="-1" strike="noStrike">
              <a:latin typeface="Arial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Parceiros Chave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0" y="432000"/>
            <a:ext cx="9143640" cy="4176000"/>
          </a:xfrm>
          <a:prstGeom prst="rect">
            <a:avLst/>
          </a:prstGeom>
          <a:ln>
            <a:noFill/>
          </a:ln>
        </p:spPr>
      </p:pic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Parceiros Chave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400" spc="-1" strike="noStrike">
                <a:solidFill>
                  <a:srgbClr val="424242"/>
                </a:solidFill>
                <a:latin typeface="Oswald"/>
                <a:ea typeface="Oswald"/>
              </a:rPr>
              <a:t>Ganho de otimização e redução de custos</a:t>
            </a:r>
            <a:endParaRPr b="0" lang="en-US" sz="2400" spc="-1" strike="noStrike">
              <a:latin typeface="Arial"/>
            </a:endParaRPr>
          </a:p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400" spc="-1" strike="noStrike">
                <a:solidFill>
                  <a:srgbClr val="424242"/>
                </a:solidFill>
                <a:latin typeface="Oswald"/>
                <a:ea typeface="Oswald"/>
              </a:rPr>
              <a:t>Diminuição de risco e incerteza</a:t>
            </a:r>
            <a:endParaRPr b="0" lang="en-US" sz="2400" spc="-1" strike="noStrike">
              <a:latin typeface="Arial"/>
            </a:endParaRPr>
          </a:p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400" spc="-1" strike="noStrike">
                <a:solidFill>
                  <a:srgbClr val="424242"/>
                </a:solidFill>
                <a:latin typeface="Oswald"/>
                <a:ea typeface="Oswald"/>
              </a:rPr>
              <a:t>Aquisição de RECURSOS CHAVE (Agência, TI...)</a:t>
            </a:r>
            <a:endParaRPr b="0" lang="en-US" sz="2400" spc="-1" strike="noStrike">
              <a:latin typeface="Arial"/>
            </a:endParaRP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Estrutura de Custo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" descr=""/>
          <p:cNvPicPr/>
          <p:nvPr/>
        </p:nvPicPr>
        <p:blipFill>
          <a:blip r:embed="rId1"/>
          <a:stretch/>
        </p:blipFill>
        <p:spPr>
          <a:xfrm>
            <a:off x="360000" y="465120"/>
            <a:ext cx="8280000" cy="3998880"/>
          </a:xfrm>
          <a:prstGeom prst="rect">
            <a:avLst/>
          </a:prstGeom>
          <a:ln>
            <a:noFill/>
          </a:ln>
        </p:spPr>
      </p:pic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Estrutura de Custo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400" spc="-1" strike="noStrike">
                <a:solidFill>
                  <a:srgbClr val="424242"/>
                </a:solidFill>
                <a:latin typeface="Oswald"/>
                <a:ea typeface="Oswald"/>
              </a:rPr>
              <a:t>Custo fixo</a:t>
            </a:r>
            <a:endParaRPr b="0" lang="en-US" sz="2400" spc="-1" strike="noStrike">
              <a:latin typeface="Arial"/>
            </a:endParaRPr>
          </a:p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400" spc="-1" strike="noStrike">
                <a:solidFill>
                  <a:srgbClr val="424242"/>
                </a:solidFill>
                <a:latin typeface="Oswald"/>
                <a:ea typeface="Oswald"/>
              </a:rPr>
              <a:t>Custo variável</a:t>
            </a:r>
            <a:endParaRPr b="0" lang="en-US" sz="2400" spc="-1" strike="noStrike">
              <a:latin typeface="Arial"/>
            </a:endParaRPr>
          </a:p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400" spc="-1" strike="noStrike">
                <a:solidFill>
                  <a:srgbClr val="424242"/>
                </a:solidFill>
                <a:latin typeface="Oswald"/>
                <a:ea typeface="Oswald"/>
              </a:rPr>
              <a:t>Custo Inicial *</a:t>
            </a:r>
            <a:endParaRPr b="0" lang="en-US" sz="2400" spc="-1" strike="noStrike">
              <a:latin typeface="Arial"/>
            </a:endParaRPr>
          </a:p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400" spc="-1" strike="noStrike">
                <a:solidFill>
                  <a:srgbClr val="424242"/>
                </a:solidFill>
                <a:latin typeface="Oswald"/>
                <a:ea typeface="Oswald"/>
              </a:rPr>
              <a:t>TCO (Custo Fixo + Cutso Variável)</a:t>
            </a:r>
            <a:endParaRPr b="0" lang="en-US" sz="2400" spc="-1" strike="noStrike">
              <a:latin typeface="Arial"/>
            </a:endParaRPr>
          </a:p>
        </p:txBody>
      </p:sp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Fontes de Receita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360000" y="720000"/>
            <a:ext cx="7994520" cy="4009680"/>
          </a:xfrm>
          <a:prstGeom prst="rect">
            <a:avLst/>
          </a:prstGeom>
          <a:ln>
            <a:noFill/>
          </a:ln>
        </p:spPr>
      </p:pic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Shape 1"/>
          <p:cNvSpPr txBox="1"/>
          <p:nvPr/>
        </p:nvSpPr>
        <p:spPr>
          <a:xfrm>
            <a:off x="411120" y="644400"/>
            <a:ext cx="8282160" cy="21085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pt-BR" sz="6000" spc="-1" strike="noStrike">
                <a:solidFill>
                  <a:srgbClr val="ffffff"/>
                </a:solidFill>
                <a:latin typeface="Oswald"/>
                <a:ea typeface="Oswald"/>
              </a:rPr>
              <a:t>Fontes de Receita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Shape 2"/>
          <p:cNvSpPr txBox="1"/>
          <p:nvPr/>
        </p:nvSpPr>
        <p:spPr>
          <a:xfrm>
            <a:off x="411120" y="3398400"/>
            <a:ext cx="8282160" cy="1260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400" spc="-1" strike="noStrike">
                <a:solidFill>
                  <a:srgbClr val="424242"/>
                </a:solidFill>
                <a:latin typeface="Oswald"/>
                <a:ea typeface="Oswald"/>
              </a:rPr>
              <a:t>Como?</a:t>
            </a:r>
            <a:endParaRPr b="0" lang="en-US" sz="2400" spc="-1" strike="noStrike">
              <a:latin typeface="Arial"/>
            </a:endParaRPr>
          </a:p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400" spc="-1" strike="noStrike">
                <a:solidFill>
                  <a:srgbClr val="424242"/>
                </a:solidFill>
                <a:latin typeface="Oswald"/>
                <a:ea typeface="Oswald"/>
              </a:rPr>
              <a:t>Tipos</a:t>
            </a:r>
            <a:endParaRPr b="0" lang="en-US" sz="2400" spc="-1" strike="noStrike">
              <a:latin typeface="Arial"/>
            </a:endParaRPr>
          </a:p>
          <a:p>
            <a:pPr marL="457200" indent="-380520">
              <a:lnSpc>
                <a:spcPct val="100000"/>
              </a:lnSpc>
              <a:buClr>
                <a:srgbClr val="424242"/>
              </a:buClr>
              <a:buFont typeface="Oswald"/>
              <a:buChar char="●"/>
            </a:pPr>
            <a:r>
              <a:rPr b="0" lang="pt-BR" sz="2400" spc="-1" strike="noStrike">
                <a:solidFill>
                  <a:srgbClr val="424242"/>
                </a:solidFill>
                <a:latin typeface="Oswald"/>
                <a:ea typeface="Oswald"/>
              </a:rPr>
              <a:t>Precificação</a:t>
            </a:r>
            <a:endParaRPr b="0" lang="en-US" sz="2400" spc="-1" strike="noStrike">
              <a:latin typeface="Arial"/>
            </a:endParaRP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Shape 1"/>
          <p:cNvSpPr txBox="1"/>
          <p:nvPr/>
        </p:nvSpPr>
        <p:spPr>
          <a:xfrm>
            <a:off x="343080" y="105840"/>
            <a:ext cx="8282160" cy="1516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3600" spc="-1" strike="noStrike">
                <a:solidFill>
                  <a:srgbClr val="e91d63"/>
                </a:solidFill>
                <a:latin typeface="Oswald"/>
                <a:ea typeface="Oswald"/>
              </a:rPr>
              <a:t>Como?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CustomShape 2"/>
          <p:cNvSpPr/>
          <p:nvPr/>
        </p:nvSpPr>
        <p:spPr>
          <a:xfrm>
            <a:off x="1332720" y="1983600"/>
            <a:ext cx="6303240" cy="73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Por margem (%)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Por Mercado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Por percepção de valor</a:t>
            </a:r>
            <a:endParaRPr b="0" lang="en-US" sz="1400" spc="-1" strike="noStrike">
              <a:latin typeface="Arial"/>
            </a:endParaRPr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Shape 1"/>
          <p:cNvSpPr txBox="1"/>
          <p:nvPr/>
        </p:nvSpPr>
        <p:spPr>
          <a:xfrm>
            <a:off x="343080" y="105840"/>
            <a:ext cx="8282160" cy="1516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3600" spc="-1" strike="noStrike">
                <a:solidFill>
                  <a:srgbClr val="e91d63"/>
                </a:solidFill>
                <a:latin typeface="Oswald"/>
                <a:ea typeface="Oswald"/>
              </a:rPr>
              <a:t>Tipos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1332720" y="1874160"/>
            <a:ext cx="6303240" cy="73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Vendas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Taxa de uso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Assinatura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Aluguel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Licenciamento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Corretagem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Anúncios</a:t>
            </a:r>
            <a:endParaRPr b="0" lang="en-US" sz="1400" spc="-1" strike="noStrike">
              <a:latin typeface="Arial"/>
            </a:endParaRPr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Shape 1"/>
          <p:cNvSpPr txBox="1"/>
          <p:nvPr/>
        </p:nvSpPr>
        <p:spPr>
          <a:xfrm>
            <a:off x="343080" y="105840"/>
            <a:ext cx="8282160" cy="1516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0" lang="pt-BR" sz="3600" spc="-1" strike="noStrike">
                <a:solidFill>
                  <a:srgbClr val="e91d63"/>
                </a:solidFill>
                <a:latin typeface="Oswald"/>
                <a:ea typeface="Oswald"/>
              </a:rPr>
              <a:t>Precificação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>
            <a:off x="1332720" y="1874160"/>
            <a:ext cx="6303240" cy="73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Por segmento de Cliente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Por Volume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Por Tabela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Por Leilão</a:t>
            </a:r>
            <a:endParaRPr b="0" lang="en-US" sz="1400" spc="-1" strike="noStrike">
              <a:latin typeface="Arial"/>
            </a:endParaRPr>
          </a:p>
          <a:p>
            <a:pPr marL="457200" indent="-317160">
              <a:lnSpc>
                <a:spcPct val="100000"/>
              </a:lnSpc>
              <a:buClr>
                <a:srgbClr val="f9f9f9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f9f9f9"/>
                </a:solidFill>
                <a:latin typeface="Arial"/>
                <a:ea typeface="Arial"/>
              </a:rPr>
              <a:t>Por Negociação</a:t>
            </a:r>
            <a:endParaRPr b="0" lang="en-US" sz="1400" spc="-1" strike="noStrike">
              <a:latin typeface="Arial"/>
            </a:endParaRPr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2736000" y="560520"/>
            <a:ext cx="3240000" cy="4119480"/>
          </a:xfrm>
          <a:prstGeom prst="rect">
            <a:avLst/>
          </a:prstGeom>
          <a:ln>
            <a:noFill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Application>LibreOffice/6.0.6.2$Linux_X86_64 LibreOffice_project/00$Build-2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2018-12-11T16:08:58Z</dcterms:modified>
  <cp:revision>18</cp:revision>
  <dc:subject/>
  <dc:title/>
</cp:coreProperties>
</file>